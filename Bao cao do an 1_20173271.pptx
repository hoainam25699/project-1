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70" r:id="rId3"/>
    <p:sldId id="267" r:id="rId4"/>
    <p:sldId id="271" r:id="rId5"/>
    <p:sldId id="272" r:id="rId6"/>
    <p:sldId id="268" r:id="rId7"/>
    <p:sldId id="269" r:id="rId8"/>
    <p:sldId id="274" r:id="rId9"/>
    <p:sldId id="276" r:id="rId10"/>
    <p:sldId id="27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4" d="100"/>
          <a:sy n="104" d="100"/>
        </p:scale>
        <p:origin x="144"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vi-VN"/>
              <a:t>Bấm để sửa kiểu tiêu đề Bản cái</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810149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785901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11188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ACA76D6C-2A97-4D79-8700-A3703D6645B3}" type="datetimeFigureOut">
              <a:rPr lang="vi-VN" smtClean="0"/>
              <a:t>16/01/2020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511518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ACA76D6C-2A97-4D79-8700-A3703D6645B3}" type="datetimeFigureOut">
              <a:rPr lang="vi-VN" smtClean="0"/>
              <a:t>16/01/2020</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1799146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7" name="Date Placeholder 2"/>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3"/>
          <p:cNvSpPr>
            <a:spLocks noGrp="1"/>
          </p:cNvSpPr>
          <p:nvPr>
            <p:ph type="ftr" sz="quarter" idx="11"/>
          </p:nvPr>
        </p:nvSpPr>
        <p:spPr/>
        <p:txBody>
          <a:bodyPr/>
          <a:lstStyle/>
          <a:p>
            <a:endParaRPr lang="vi-VN"/>
          </a:p>
        </p:txBody>
      </p:sp>
      <p:sp>
        <p:nvSpPr>
          <p:cNvPr id="6" name="Slide Number Placeholder 4"/>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40041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2"/>
          <p:cNvSpPr>
            <a:spLocks noGrp="1"/>
          </p:cNvSpPr>
          <p:nvPr>
            <p:ph type="ftr" sz="quarter" idx="11"/>
          </p:nvPr>
        </p:nvSpPr>
        <p:spPr/>
        <p:txBody>
          <a:bodyPr/>
          <a:lstStyle/>
          <a:p>
            <a:endParaRPr lang="vi-VN"/>
          </a:p>
        </p:txBody>
      </p:sp>
      <p:sp>
        <p:nvSpPr>
          <p:cNvPr id="6" name="Slide Number Placeholder 3"/>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425109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vi-VN"/>
              <a:t>Bấm để sửa kiểu tiêu đề Bản cái</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7" name="Date Placeholder 4"/>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5"/>
          <p:cNvSpPr>
            <a:spLocks noGrp="1"/>
          </p:cNvSpPr>
          <p:nvPr>
            <p:ph type="ftr" sz="quarter" idx="11"/>
          </p:nvPr>
        </p:nvSpPr>
        <p:spPr/>
        <p:txBody>
          <a:bodyPr/>
          <a:lstStyle/>
          <a:p>
            <a:endParaRPr lang="vi-VN"/>
          </a:p>
        </p:txBody>
      </p:sp>
      <p:sp>
        <p:nvSpPr>
          <p:cNvPr id="6" name="Slide Number Placeholder 6"/>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904337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ACA76D6C-2A97-4D79-8700-A3703D6645B3}" type="datetimeFigureOut">
              <a:rPr lang="vi-VN" smtClean="0"/>
              <a:t>16/01/2020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943431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ACA76D6C-2A97-4D79-8700-A3703D6645B3}" type="datetimeFigureOut">
              <a:rPr lang="vi-VN" smtClean="0"/>
              <a:t>16/01/2020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66239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vi-VN"/>
              <a:t>Bấm để sửa kiểu tiêu đề Bản cái</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1509651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vi-VN"/>
              <a:t>Bấm để sửa kiểu tiêu đề Bản cái</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vi-VN"/>
              <a:t>Bấm để chỉnh sửa kiểu văn bản của Bản cái</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55169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94308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ộ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vi-VN"/>
              <a:t>Bấm để sửa kiểu tiêu đề Bản cái</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950905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ột Hình ả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vi-VN"/>
              <a:t>Bấm để sửa kiểu tiêu đề Bản cái</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266475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nchorCtr="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3340246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vi-VN"/>
              <a:t>Bấm để sửa kiểu tiêu đề Bản cái</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ACA76D6C-2A97-4D79-8700-A3703D6645B3}" type="datetimeFigureOut">
              <a:rPr lang="vi-VN" smtClean="0"/>
              <a:t>16/01/2020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7DC8EC6-C0A3-479B-9539-BE46D4730BB3}" type="slidenum">
              <a:rPr lang="vi-VN" smtClean="0"/>
              <a:t>‹#›</a:t>
            </a:fld>
            <a:endParaRPr lang="vi-VN"/>
          </a:p>
        </p:txBody>
      </p:sp>
    </p:spTree>
    <p:extLst>
      <p:ext uri="{BB962C8B-B14F-4D97-AF65-F5344CB8AC3E}">
        <p14:creationId xmlns:p14="http://schemas.microsoft.com/office/powerpoint/2010/main" val="2562115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vi-VN"/>
              <a:t>Bấm để sửa kiểu tiêu đề Bản cái</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CA76D6C-2A97-4D79-8700-A3703D6645B3}" type="datetimeFigureOut">
              <a:rPr lang="vi-VN" smtClean="0"/>
              <a:t>16/01/2020</a:t>
            </a:fld>
            <a:endParaRPr lang="vi-V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vi-V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7DC8EC6-C0A3-479B-9539-BE46D4730BB3}" type="slidenum">
              <a:rPr lang="vi-VN" smtClean="0"/>
              <a:t>‹#›</a:t>
            </a:fld>
            <a:endParaRPr lang="vi-VN"/>
          </a:p>
        </p:txBody>
      </p:sp>
    </p:spTree>
    <p:extLst>
      <p:ext uri="{BB962C8B-B14F-4D97-AF65-F5344CB8AC3E}">
        <p14:creationId xmlns:p14="http://schemas.microsoft.com/office/powerpoint/2010/main" val="298865104"/>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F4D8C7-F7D0-48A4-89FA-9B6A2F1417CD}"/>
              </a:ext>
            </a:extLst>
          </p:cNvPr>
          <p:cNvSpPr txBox="1"/>
          <p:nvPr/>
        </p:nvSpPr>
        <p:spPr>
          <a:xfrm>
            <a:off x="6416952" y="425301"/>
            <a:ext cx="5512596" cy="841107"/>
          </a:xfrm>
          <a:prstGeom prst="rect">
            <a:avLst/>
          </a:prstGeom>
        </p:spPr>
        <p:txBody>
          <a:bodyPr vert="horz" lIns="91440" tIns="45720" rIns="91440" bIns="45720" rtlCol="0" anchor="b">
            <a:normAutofit fontScale="92500" lnSpcReduction="20000"/>
          </a:bodyPr>
          <a:lstStyle/>
          <a:p>
            <a:pPr algn="ctr">
              <a:lnSpc>
                <a:spcPct val="90000"/>
              </a:lnSpc>
              <a:spcBef>
                <a:spcPct val="0"/>
              </a:spcBef>
              <a:spcAft>
                <a:spcPts val="600"/>
              </a:spcAft>
            </a:pPr>
            <a:r>
              <a:rPr lang="en-US" b="1" kern="1200">
                <a:solidFill>
                  <a:schemeClr val="bg1"/>
                </a:solidFill>
                <a:latin typeface="+mj-lt"/>
                <a:ea typeface="+mj-ea"/>
                <a:cs typeface="+mj-cs"/>
              </a:rPr>
              <a:t>TRƯỜNG ĐẠI HỌC BÁCH KHOA HÀ NỘI</a:t>
            </a:r>
          </a:p>
          <a:p>
            <a:pPr algn="ctr">
              <a:lnSpc>
                <a:spcPct val="90000"/>
              </a:lnSpc>
              <a:spcBef>
                <a:spcPct val="0"/>
              </a:spcBef>
              <a:spcAft>
                <a:spcPts val="600"/>
              </a:spcAft>
            </a:pPr>
            <a:r>
              <a:rPr lang="en-US" b="1" kern="1200">
                <a:solidFill>
                  <a:schemeClr val="bg1"/>
                </a:solidFill>
                <a:latin typeface="+mj-lt"/>
                <a:ea typeface="+mj-ea"/>
                <a:cs typeface="+mj-cs"/>
              </a:rPr>
              <a:t>VIỆN CÔNG NGHỆ THÔNG TIN VÀ TRUYỀN THÔNG</a:t>
            </a:r>
          </a:p>
          <a:p>
            <a:pPr algn="ctr">
              <a:lnSpc>
                <a:spcPct val="90000"/>
              </a:lnSpc>
              <a:spcBef>
                <a:spcPct val="0"/>
              </a:spcBef>
              <a:spcAft>
                <a:spcPts val="600"/>
              </a:spcAft>
            </a:pPr>
            <a:r>
              <a:rPr lang="en-US" b="1" kern="1200" err="1">
                <a:solidFill>
                  <a:schemeClr val="bg1"/>
                </a:solidFill>
                <a:latin typeface="+mj-lt"/>
                <a:ea typeface="+mj-ea"/>
                <a:cs typeface="+mj-cs"/>
              </a:rPr>
              <a:t>Bộ</a:t>
            </a:r>
            <a:r>
              <a:rPr lang="en-US" b="1" kern="1200">
                <a:solidFill>
                  <a:schemeClr val="bg1"/>
                </a:solidFill>
                <a:latin typeface="+mj-lt"/>
                <a:ea typeface="+mj-ea"/>
                <a:cs typeface="+mj-cs"/>
              </a:rPr>
              <a:t> </a:t>
            </a:r>
            <a:r>
              <a:rPr lang="en-US" b="1" kern="1200" err="1">
                <a:solidFill>
                  <a:schemeClr val="bg1"/>
                </a:solidFill>
                <a:latin typeface="+mj-lt"/>
                <a:ea typeface="+mj-ea"/>
                <a:cs typeface="+mj-cs"/>
              </a:rPr>
              <a:t>môn:Hệ</a:t>
            </a:r>
            <a:r>
              <a:rPr lang="en-US" b="1" kern="1200">
                <a:solidFill>
                  <a:schemeClr val="bg1"/>
                </a:solidFill>
                <a:latin typeface="+mj-lt"/>
                <a:ea typeface="+mj-ea"/>
                <a:cs typeface="+mj-cs"/>
              </a:rPr>
              <a:t> </a:t>
            </a:r>
            <a:r>
              <a:rPr lang="en-US" b="1" kern="1200" err="1">
                <a:solidFill>
                  <a:schemeClr val="bg1"/>
                </a:solidFill>
                <a:latin typeface="+mj-lt"/>
                <a:ea typeface="+mj-ea"/>
                <a:cs typeface="+mj-cs"/>
              </a:rPr>
              <a:t>thống</a:t>
            </a:r>
            <a:r>
              <a:rPr lang="en-US" b="1" kern="1200">
                <a:solidFill>
                  <a:schemeClr val="bg1"/>
                </a:solidFill>
                <a:latin typeface="+mj-lt"/>
                <a:ea typeface="+mj-ea"/>
                <a:cs typeface="+mj-cs"/>
              </a:rPr>
              <a:t> </a:t>
            </a:r>
            <a:r>
              <a:rPr lang="en-US" b="1" kern="1200" err="1">
                <a:solidFill>
                  <a:schemeClr val="bg1"/>
                </a:solidFill>
                <a:latin typeface="+mj-lt"/>
                <a:ea typeface="+mj-ea"/>
                <a:cs typeface="+mj-cs"/>
              </a:rPr>
              <a:t>thông</a:t>
            </a:r>
            <a:r>
              <a:rPr lang="en-US" b="1" kern="1200">
                <a:solidFill>
                  <a:schemeClr val="bg1"/>
                </a:solidFill>
                <a:latin typeface="+mj-lt"/>
                <a:ea typeface="+mj-ea"/>
                <a:cs typeface="+mj-cs"/>
              </a:rPr>
              <a:t> tin</a:t>
            </a:r>
          </a:p>
        </p:txBody>
      </p:sp>
      <p:pic>
        <p:nvPicPr>
          <p:cNvPr id="3" name="Picture 2" descr="A picture containing food&#10;&#10;Description automatically generated">
            <a:extLst>
              <a:ext uri="{FF2B5EF4-FFF2-40B4-BE49-F238E27FC236}">
                <a16:creationId xmlns:a16="http://schemas.microsoft.com/office/drawing/2014/main" id="{C5E976A8-ABAA-453E-9D22-214B854A6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382" y="720993"/>
            <a:ext cx="4047843" cy="4047843"/>
          </a:xfrm>
          <a:prstGeom prst="rect">
            <a:avLst/>
          </a:prstGeom>
        </p:spPr>
      </p:pic>
      <p:sp>
        <p:nvSpPr>
          <p:cNvPr id="6" name="TextBox 5">
            <a:extLst>
              <a:ext uri="{FF2B5EF4-FFF2-40B4-BE49-F238E27FC236}">
                <a16:creationId xmlns:a16="http://schemas.microsoft.com/office/drawing/2014/main" id="{40915F6E-B290-488D-BBB9-7D7A25629BBC}"/>
              </a:ext>
            </a:extLst>
          </p:cNvPr>
          <p:cNvSpPr txBox="1"/>
          <p:nvPr/>
        </p:nvSpPr>
        <p:spPr>
          <a:xfrm>
            <a:off x="5877971" y="2532816"/>
            <a:ext cx="6314798" cy="1400383"/>
          </a:xfrm>
          <a:prstGeom prst="rect">
            <a:avLst/>
          </a:prstGeom>
          <a:noFill/>
        </p:spPr>
        <p:txBody>
          <a:bodyPr wrap="square" rtlCol="0">
            <a:spAutoFit/>
          </a:bodyPr>
          <a:lstStyle/>
          <a:p>
            <a:pPr algn="ctr">
              <a:spcAft>
                <a:spcPts val="600"/>
              </a:spcAft>
            </a:pPr>
            <a:r>
              <a:rPr lang="vi-VN" sz="2000" err="1">
                <a:solidFill>
                  <a:schemeClr val="bg1"/>
                </a:solidFill>
              </a:rPr>
              <a:t>Đề</a:t>
            </a:r>
            <a:r>
              <a:rPr lang="vi-VN" sz="2000">
                <a:solidFill>
                  <a:schemeClr val="bg1"/>
                </a:solidFill>
              </a:rPr>
              <a:t> </a:t>
            </a:r>
            <a:r>
              <a:rPr lang="vi-VN" sz="2000" err="1">
                <a:solidFill>
                  <a:schemeClr val="bg1"/>
                </a:solidFill>
              </a:rPr>
              <a:t>tài</a:t>
            </a:r>
            <a:endParaRPr lang="vi-VN" sz="2000">
              <a:solidFill>
                <a:schemeClr val="bg1"/>
              </a:solidFill>
            </a:endParaRPr>
          </a:p>
          <a:p>
            <a:pPr algn="ctr">
              <a:spcAft>
                <a:spcPts val="600"/>
              </a:spcAft>
            </a:pPr>
            <a:r>
              <a:rPr lang="vi-VN" sz="2000">
                <a:solidFill>
                  <a:schemeClr val="bg1"/>
                </a:solidFill>
              </a:rPr>
              <a:t>THIẾT KẾ ỨNG DỤNG NHẬN DIỆN KHUÔN MẶT NGƯỜI VÀ TIẾNG NÓI SỬ DỤNG NGÔN NGỮ PYTHON</a:t>
            </a:r>
          </a:p>
        </p:txBody>
      </p:sp>
      <p:sp>
        <p:nvSpPr>
          <p:cNvPr id="7" name="TextBox 6">
            <a:extLst>
              <a:ext uri="{FF2B5EF4-FFF2-40B4-BE49-F238E27FC236}">
                <a16:creationId xmlns:a16="http://schemas.microsoft.com/office/drawing/2014/main" id="{A5E22227-E90D-419C-B342-5545CAB02D18}"/>
              </a:ext>
            </a:extLst>
          </p:cNvPr>
          <p:cNvSpPr txBox="1"/>
          <p:nvPr/>
        </p:nvSpPr>
        <p:spPr>
          <a:xfrm>
            <a:off x="5048539" y="5093790"/>
            <a:ext cx="4133851" cy="1169551"/>
          </a:xfrm>
          <a:prstGeom prst="rect">
            <a:avLst/>
          </a:prstGeom>
          <a:noFill/>
        </p:spPr>
        <p:txBody>
          <a:bodyPr wrap="square" rtlCol="0">
            <a:spAutoFit/>
          </a:bodyPr>
          <a:lstStyle/>
          <a:p>
            <a:pPr>
              <a:spcAft>
                <a:spcPts val="600"/>
              </a:spcAft>
            </a:pPr>
            <a:r>
              <a:rPr lang="vi-VN" sz="2000">
                <a:solidFill>
                  <a:schemeClr val="bg1"/>
                </a:solidFill>
              </a:rPr>
              <a:t>GVHD: </a:t>
            </a:r>
            <a:r>
              <a:rPr lang="vi-VN" sz="2000" err="1">
                <a:solidFill>
                  <a:schemeClr val="bg1"/>
                </a:solidFill>
              </a:rPr>
              <a:t>Thầy</a:t>
            </a:r>
            <a:r>
              <a:rPr lang="vi-VN" sz="2000">
                <a:solidFill>
                  <a:schemeClr val="bg1"/>
                </a:solidFill>
              </a:rPr>
              <a:t> </a:t>
            </a:r>
            <a:r>
              <a:rPr lang="vi-VN" sz="2000" err="1">
                <a:solidFill>
                  <a:schemeClr val="bg1"/>
                </a:solidFill>
              </a:rPr>
              <a:t>Nguyễn</a:t>
            </a:r>
            <a:r>
              <a:rPr lang="vi-VN" sz="2000">
                <a:solidFill>
                  <a:schemeClr val="bg1"/>
                </a:solidFill>
              </a:rPr>
              <a:t> </a:t>
            </a:r>
            <a:r>
              <a:rPr lang="vi-VN" sz="2000" err="1">
                <a:solidFill>
                  <a:schemeClr val="bg1"/>
                </a:solidFill>
              </a:rPr>
              <a:t>Hữu</a:t>
            </a:r>
            <a:r>
              <a:rPr lang="vi-VN" sz="2000">
                <a:solidFill>
                  <a:schemeClr val="bg1"/>
                </a:solidFill>
              </a:rPr>
              <a:t> </a:t>
            </a:r>
            <a:r>
              <a:rPr lang="vi-VN" sz="2000" err="1">
                <a:solidFill>
                  <a:schemeClr val="bg1"/>
                </a:solidFill>
              </a:rPr>
              <a:t>Đức</a:t>
            </a:r>
            <a:endParaRPr lang="vi-VN" sz="2000">
              <a:solidFill>
                <a:schemeClr val="bg1"/>
              </a:solidFill>
            </a:endParaRPr>
          </a:p>
          <a:p>
            <a:pPr>
              <a:spcAft>
                <a:spcPts val="600"/>
              </a:spcAft>
            </a:pPr>
            <a:r>
              <a:rPr lang="vi-VN" sz="2000">
                <a:solidFill>
                  <a:schemeClr val="bg1"/>
                </a:solidFill>
              </a:rPr>
              <a:t>Sinh viên: </a:t>
            </a:r>
            <a:r>
              <a:rPr lang="vi-VN" sz="2000" err="1">
                <a:solidFill>
                  <a:schemeClr val="bg1"/>
                </a:solidFill>
              </a:rPr>
              <a:t>Đào</a:t>
            </a:r>
            <a:r>
              <a:rPr lang="vi-VN" sz="2000">
                <a:solidFill>
                  <a:schemeClr val="bg1"/>
                </a:solidFill>
              </a:rPr>
              <a:t> </a:t>
            </a:r>
            <a:r>
              <a:rPr lang="vi-VN" sz="2000" err="1">
                <a:solidFill>
                  <a:schemeClr val="bg1"/>
                </a:solidFill>
              </a:rPr>
              <a:t>Hoài</a:t>
            </a:r>
            <a:r>
              <a:rPr lang="vi-VN" sz="2000">
                <a:solidFill>
                  <a:schemeClr val="bg1"/>
                </a:solidFill>
              </a:rPr>
              <a:t> Nam</a:t>
            </a:r>
          </a:p>
          <a:p>
            <a:pPr>
              <a:spcAft>
                <a:spcPts val="600"/>
              </a:spcAft>
            </a:pPr>
            <a:r>
              <a:rPr lang="vi-VN" sz="2000">
                <a:solidFill>
                  <a:schemeClr val="bg1"/>
                </a:solidFill>
              </a:rPr>
              <a:t>MSSV: 20173271</a:t>
            </a:r>
          </a:p>
        </p:txBody>
      </p:sp>
    </p:spTree>
    <p:extLst>
      <p:ext uri="{BB962C8B-B14F-4D97-AF65-F5344CB8AC3E}">
        <p14:creationId xmlns:p14="http://schemas.microsoft.com/office/powerpoint/2010/main" val="2836056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F9AF015-33D8-4061-B51F-D5D7C51305DF}"/>
              </a:ext>
            </a:extLst>
          </p:cNvPr>
          <p:cNvSpPr>
            <a:spLocks noGrp="1"/>
          </p:cNvSpPr>
          <p:nvPr>
            <p:ph type="title"/>
          </p:nvPr>
        </p:nvSpPr>
        <p:spPr/>
        <p:txBody>
          <a:bodyPr>
            <a:normAutofit/>
          </a:bodyPr>
          <a:lstStyle/>
          <a:p>
            <a:pPr algn="ctr"/>
            <a:r>
              <a:rPr lang="en-US"/>
              <a:t>Creat train dataset, set label for them &amp; train model</a:t>
            </a:r>
            <a:endParaRPr lang="vi-VN"/>
          </a:p>
        </p:txBody>
      </p:sp>
      <p:sp>
        <p:nvSpPr>
          <p:cNvPr id="3" name="Chỗ dành sẵn cho Nội dung 2">
            <a:extLst>
              <a:ext uri="{FF2B5EF4-FFF2-40B4-BE49-F238E27FC236}">
                <a16:creationId xmlns:a16="http://schemas.microsoft.com/office/drawing/2014/main" id="{1AB0DADC-6135-4E32-A56D-1CF7F81A87F1}"/>
              </a:ext>
            </a:extLst>
          </p:cNvPr>
          <p:cNvSpPr>
            <a:spLocks noGrp="1"/>
          </p:cNvSpPr>
          <p:nvPr>
            <p:ph idx="1"/>
          </p:nvPr>
        </p:nvSpPr>
        <p:spPr/>
        <p:txBody>
          <a:bodyPr/>
          <a:lstStyle/>
          <a:p>
            <a:r>
              <a:rPr lang="en-US"/>
              <a:t>Read all image in forlder dataset</a:t>
            </a:r>
          </a:p>
          <a:p>
            <a:r>
              <a:rPr lang="en-US"/>
              <a:t>Get the index from name of image, example:</a:t>
            </a:r>
          </a:p>
          <a:p>
            <a:pPr marL="0" indent="0" algn="ctr">
              <a:buNone/>
            </a:pPr>
            <a:r>
              <a:rPr lang="en-US"/>
              <a:t>1.1 -&gt; label 1</a:t>
            </a:r>
          </a:p>
          <a:p>
            <a:pPr marL="0" indent="0" algn="ctr">
              <a:buNone/>
            </a:pPr>
            <a:r>
              <a:rPr lang="en-US"/>
              <a:t>1.2 -&gt; label 1</a:t>
            </a:r>
          </a:p>
          <a:p>
            <a:pPr marL="0" indent="0" algn="ctr">
              <a:buNone/>
            </a:pPr>
            <a:r>
              <a:rPr lang="en-US"/>
              <a:t>2.1 -&gt; label 2</a:t>
            </a:r>
          </a:p>
          <a:p>
            <a:r>
              <a:rPr lang="en-US"/>
              <a:t>After that, train and save model</a:t>
            </a:r>
          </a:p>
          <a:p>
            <a:pPr marL="0" indent="0">
              <a:buNone/>
            </a:pPr>
            <a:endParaRPr lang="en-US"/>
          </a:p>
        </p:txBody>
      </p:sp>
      <p:pic>
        <p:nvPicPr>
          <p:cNvPr id="4" name="Hình ảnh 3">
            <a:extLst>
              <a:ext uri="{FF2B5EF4-FFF2-40B4-BE49-F238E27FC236}">
                <a16:creationId xmlns:a16="http://schemas.microsoft.com/office/drawing/2014/main" id="{005E2007-B140-4B36-A70E-B306BAE19655}"/>
              </a:ext>
            </a:extLst>
          </p:cNvPr>
          <p:cNvPicPr>
            <a:picLocks noChangeAspect="1"/>
          </p:cNvPicPr>
          <p:nvPr/>
        </p:nvPicPr>
        <p:blipFill>
          <a:blip r:embed="rId2"/>
          <a:stretch>
            <a:fillRect/>
          </a:stretch>
        </p:blipFill>
        <p:spPr>
          <a:xfrm>
            <a:off x="559627" y="4913983"/>
            <a:ext cx="11072746" cy="1578892"/>
          </a:xfrm>
          <a:prstGeom prst="rect">
            <a:avLst/>
          </a:prstGeom>
        </p:spPr>
      </p:pic>
    </p:spTree>
    <p:extLst>
      <p:ext uri="{BB962C8B-B14F-4D97-AF65-F5344CB8AC3E}">
        <p14:creationId xmlns:p14="http://schemas.microsoft.com/office/powerpoint/2010/main" val="2689933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F567EF7-B19E-4E52-9A80-A61672039FCC}"/>
              </a:ext>
            </a:extLst>
          </p:cNvPr>
          <p:cNvSpPr>
            <a:spLocks noGrp="1"/>
          </p:cNvSpPr>
          <p:nvPr>
            <p:ph type="title"/>
          </p:nvPr>
        </p:nvSpPr>
        <p:spPr/>
        <p:txBody>
          <a:bodyPr/>
          <a:lstStyle/>
          <a:p>
            <a:pPr algn="ctr"/>
            <a:r>
              <a:rPr lang="en-US"/>
              <a:t>Connect user database</a:t>
            </a:r>
            <a:endParaRPr lang="vi-VN"/>
          </a:p>
        </p:txBody>
      </p:sp>
      <p:sp>
        <p:nvSpPr>
          <p:cNvPr id="3" name="Chỗ dành sẵn cho Nội dung 2">
            <a:extLst>
              <a:ext uri="{FF2B5EF4-FFF2-40B4-BE49-F238E27FC236}">
                <a16:creationId xmlns:a16="http://schemas.microsoft.com/office/drawing/2014/main" id="{1DC5A8F8-2E30-4637-A62A-10EF2BEFC226}"/>
              </a:ext>
            </a:extLst>
          </p:cNvPr>
          <p:cNvSpPr>
            <a:spLocks noGrp="1"/>
          </p:cNvSpPr>
          <p:nvPr>
            <p:ph idx="1"/>
          </p:nvPr>
        </p:nvSpPr>
        <p:spPr/>
        <p:txBody>
          <a:bodyPr/>
          <a:lstStyle/>
          <a:p>
            <a:r>
              <a:rPr lang="en-US"/>
              <a:t>Use library pyodbc to connect database</a:t>
            </a:r>
          </a:p>
          <a:p>
            <a:r>
              <a:rPr lang="en-US"/>
              <a:t>Get information of user from database</a:t>
            </a:r>
          </a:p>
          <a:p>
            <a:endParaRPr lang="vi-VN"/>
          </a:p>
        </p:txBody>
      </p:sp>
      <p:pic>
        <p:nvPicPr>
          <p:cNvPr id="4" name="Hình ảnh 3">
            <a:extLst>
              <a:ext uri="{FF2B5EF4-FFF2-40B4-BE49-F238E27FC236}">
                <a16:creationId xmlns:a16="http://schemas.microsoft.com/office/drawing/2014/main" id="{9112235D-2005-47EF-ACF3-F314BEFE2E0D}"/>
              </a:ext>
            </a:extLst>
          </p:cNvPr>
          <p:cNvPicPr>
            <a:picLocks noChangeAspect="1"/>
          </p:cNvPicPr>
          <p:nvPr/>
        </p:nvPicPr>
        <p:blipFill>
          <a:blip r:embed="rId2"/>
          <a:stretch>
            <a:fillRect/>
          </a:stretch>
        </p:blipFill>
        <p:spPr>
          <a:xfrm>
            <a:off x="1331708" y="3682768"/>
            <a:ext cx="9184928" cy="1892372"/>
          </a:xfrm>
          <a:prstGeom prst="rect">
            <a:avLst/>
          </a:prstGeom>
        </p:spPr>
      </p:pic>
    </p:spTree>
    <p:extLst>
      <p:ext uri="{BB962C8B-B14F-4D97-AF65-F5344CB8AC3E}">
        <p14:creationId xmlns:p14="http://schemas.microsoft.com/office/powerpoint/2010/main" val="2555720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êu đề 1">
            <a:extLst>
              <a:ext uri="{FF2B5EF4-FFF2-40B4-BE49-F238E27FC236}">
                <a16:creationId xmlns:a16="http://schemas.microsoft.com/office/drawing/2014/main" id="{6A0A48BB-CADE-4F0A-8069-672A3DAB1674}"/>
              </a:ext>
            </a:extLst>
          </p:cNvPr>
          <p:cNvSpPr>
            <a:spLocks noGrp="1"/>
          </p:cNvSpPr>
          <p:nvPr>
            <p:ph type="title"/>
          </p:nvPr>
        </p:nvSpPr>
        <p:spPr>
          <a:xfrm>
            <a:off x="429768" y="411480"/>
            <a:ext cx="11201400" cy="1106424"/>
          </a:xfrm>
        </p:spPr>
        <p:txBody>
          <a:bodyPr>
            <a:normAutofit/>
          </a:bodyPr>
          <a:lstStyle/>
          <a:p>
            <a:r>
              <a:rPr lang="vi-VN" sz="3600"/>
              <a:t>Mô hình xử lí hình ảnh nhận diện khuôn mặt</a:t>
            </a:r>
          </a:p>
        </p:txBody>
      </p:sp>
      <p:sp>
        <p:nvSpPr>
          <p:cNvPr id="9" name="Chỗ dành sẵn cho Nội dung 2">
            <a:extLst>
              <a:ext uri="{FF2B5EF4-FFF2-40B4-BE49-F238E27FC236}">
                <a16:creationId xmlns:a16="http://schemas.microsoft.com/office/drawing/2014/main" id="{925E445D-1CB3-4B56-B8BE-42E4D8D1DB07}"/>
              </a:ext>
            </a:extLst>
          </p:cNvPr>
          <p:cNvSpPr>
            <a:spLocks noGrp="1"/>
          </p:cNvSpPr>
          <p:nvPr>
            <p:ph idx="1"/>
          </p:nvPr>
        </p:nvSpPr>
        <p:spPr>
          <a:xfrm>
            <a:off x="7938752" y="2020824"/>
            <a:ext cx="3455097" cy="3959352"/>
          </a:xfrm>
        </p:spPr>
        <p:txBody>
          <a:bodyPr anchor="ctr">
            <a:normAutofit/>
          </a:bodyPr>
          <a:lstStyle/>
          <a:p>
            <a:r>
              <a:rPr lang="vi-VN" sz="2000" err="1"/>
              <a:t>Using</a:t>
            </a:r>
            <a:r>
              <a:rPr lang="vi-VN" sz="2000"/>
              <a:t> </a:t>
            </a:r>
            <a:r>
              <a:rPr lang="vi-VN" sz="2000" err="1"/>
              <a:t>Harr</a:t>
            </a:r>
            <a:r>
              <a:rPr lang="vi-VN" sz="2000"/>
              <a:t> </a:t>
            </a:r>
            <a:r>
              <a:rPr lang="vi-VN" sz="2000" err="1"/>
              <a:t>feature</a:t>
            </a:r>
            <a:r>
              <a:rPr lang="vi-VN" sz="2000"/>
              <a:t> – </a:t>
            </a:r>
            <a:r>
              <a:rPr lang="vi-VN" sz="2000" err="1"/>
              <a:t>based</a:t>
            </a:r>
            <a:r>
              <a:rPr lang="vi-VN" sz="2000"/>
              <a:t> </a:t>
            </a:r>
            <a:r>
              <a:rPr lang="vi-VN" sz="2000" err="1"/>
              <a:t>cascade</a:t>
            </a:r>
            <a:r>
              <a:rPr lang="vi-VN" sz="2000"/>
              <a:t>  </a:t>
            </a:r>
            <a:r>
              <a:rPr lang="vi-VN" sz="2000" err="1"/>
              <a:t>face</a:t>
            </a:r>
            <a:r>
              <a:rPr lang="vi-VN" sz="2000"/>
              <a:t> </a:t>
            </a:r>
            <a:r>
              <a:rPr lang="vi-VN" sz="2000" err="1"/>
              <a:t>classificers</a:t>
            </a:r>
            <a:endParaRPr lang="vi-VN" sz="2000"/>
          </a:p>
          <a:p>
            <a:r>
              <a:rPr lang="en-US" sz="2000"/>
              <a:t>Each feature is a single value obtained by subtracting the sum of pixels under the white rectangle from the sum of pixels under the black rectangle.</a:t>
            </a:r>
          </a:p>
          <a:p>
            <a:endParaRPr lang="vi-VN" sz="1800"/>
          </a:p>
        </p:txBody>
      </p:sp>
      <p:pic>
        <p:nvPicPr>
          <p:cNvPr id="8" name="Hình ảnh 7" descr="D:\SUBJECT\Project 1\Image\haar_features.jpg">
            <a:extLst>
              <a:ext uri="{FF2B5EF4-FFF2-40B4-BE49-F238E27FC236}">
                <a16:creationId xmlns:a16="http://schemas.microsoft.com/office/drawing/2014/main" id="{94636A8F-3857-4BCB-B24D-AF0B19DDAB70}"/>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1114100" y="1719072"/>
            <a:ext cx="5333887" cy="4517136"/>
          </a:xfrm>
          <a:prstGeom prst="rect">
            <a:avLst/>
          </a:prstGeom>
          <a:noFill/>
        </p:spPr>
      </p:pic>
    </p:spTree>
    <p:extLst>
      <p:ext uri="{BB962C8B-B14F-4D97-AF65-F5344CB8AC3E}">
        <p14:creationId xmlns:p14="http://schemas.microsoft.com/office/powerpoint/2010/main" val="685359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1">
            <a:extLst>
              <a:ext uri="{FF2B5EF4-FFF2-40B4-BE49-F238E27FC236}">
                <a16:creationId xmlns:a16="http://schemas.microsoft.com/office/drawing/2014/main" id="{42A9D485-EEB7-4302-A85E-2DC1F9455CA5}"/>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vert="horz" lIns="91440" tIns="45720" rIns="91440" bIns="45720" rtlCol="0" anchor="ctr">
            <a:normAutofit fontScale="90000"/>
          </a:bodyPr>
          <a:lstStyle/>
          <a:p>
            <a:pPr algn="ctr"/>
            <a:r>
              <a:rPr lang="en-US" sz="2400" kern="1200">
                <a:solidFill>
                  <a:srgbClr val="FFFFFF"/>
                </a:solidFill>
                <a:latin typeface="+mj-lt"/>
                <a:ea typeface="+mj-ea"/>
                <a:cs typeface="+mj-cs"/>
              </a:rPr>
              <a:t>Example about use Harr future to detect face and eyes</a:t>
            </a:r>
          </a:p>
        </p:txBody>
      </p:sp>
      <p:pic>
        <p:nvPicPr>
          <p:cNvPr id="5" name="Chỗ dành sẵn cho Nội dung 3">
            <a:extLst>
              <a:ext uri="{FF2B5EF4-FFF2-40B4-BE49-F238E27FC236}">
                <a16:creationId xmlns:a16="http://schemas.microsoft.com/office/drawing/2014/main" id="{8708E120-F79B-48EF-B5E2-A70367F06862}"/>
              </a:ext>
            </a:extLst>
          </p:cNvPr>
          <p:cNvPicPr>
            <a:picLocks noGrp="1" noChangeAspect="1"/>
          </p:cNvPicPr>
          <p:nvPr>
            <p:ph idx="1"/>
          </p:nvPr>
        </p:nvPicPr>
        <p:blipFill>
          <a:blip r:embed="rId2"/>
          <a:stretch>
            <a:fillRect/>
          </a:stretch>
        </p:blipFill>
        <p:spPr>
          <a:xfrm>
            <a:off x="4038600" y="1376306"/>
            <a:ext cx="7188199" cy="2965131"/>
          </a:xfrm>
          <a:prstGeom prst="rect">
            <a:avLst/>
          </a:prstGeom>
        </p:spPr>
      </p:pic>
      <p:sp>
        <p:nvSpPr>
          <p:cNvPr id="6" name="Hình chữ nhật 5">
            <a:extLst>
              <a:ext uri="{FF2B5EF4-FFF2-40B4-BE49-F238E27FC236}">
                <a16:creationId xmlns:a16="http://schemas.microsoft.com/office/drawing/2014/main" id="{EDCF656E-42EB-493F-B70E-198EB7CC1C8A}"/>
              </a:ext>
            </a:extLst>
          </p:cNvPr>
          <p:cNvSpPr/>
          <p:nvPr/>
        </p:nvSpPr>
        <p:spPr>
          <a:xfrm>
            <a:off x="4038600" y="4884873"/>
            <a:ext cx="7188199" cy="129209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t>The first feature selected seems to focus on the property that the region of the eyes is often darker than the region of the nose and cheeks. The second feature selected relies on the property that the eyes are darker than the bridge of the nose.</a:t>
            </a:r>
          </a:p>
        </p:txBody>
      </p:sp>
    </p:spTree>
    <p:extLst>
      <p:ext uri="{BB962C8B-B14F-4D97-AF65-F5344CB8AC3E}">
        <p14:creationId xmlns:p14="http://schemas.microsoft.com/office/powerpoint/2010/main" val="1180658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3A0B7B4-2114-467A-9337-92164BE42673}"/>
              </a:ext>
            </a:extLst>
          </p:cNvPr>
          <p:cNvSpPr>
            <a:spLocks noGrp="1"/>
          </p:cNvSpPr>
          <p:nvPr>
            <p:ph type="title"/>
          </p:nvPr>
        </p:nvSpPr>
        <p:spPr/>
        <p:txBody>
          <a:bodyPr>
            <a:normAutofit/>
          </a:bodyPr>
          <a:lstStyle/>
          <a:p>
            <a:pPr algn="ctr"/>
            <a:r>
              <a:rPr lang="en-US"/>
              <a:t>Get ID , search in database &amp; show information</a:t>
            </a:r>
            <a:endParaRPr lang="vi-VN"/>
          </a:p>
        </p:txBody>
      </p:sp>
      <p:sp>
        <p:nvSpPr>
          <p:cNvPr id="3" name="Chỗ dành sẵn cho Nội dung 2">
            <a:extLst>
              <a:ext uri="{FF2B5EF4-FFF2-40B4-BE49-F238E27FC236}">
                <a16:creationId xmlns:a16="http://schemas.microsoft.com/office/drawing/2014/main" id="{8A904462-6C03-4495-A2DE-AEDDB4CA2683}"/>
              </a:ext>
            </a:extLst>
          </p:cNvPr>
          <p:cNvSpPr>
            <a:spLocks noGrp="1"/>
          </p:cNvSpPr>
          <p:nvPr>
            <p:ph idx="1"/>
          </p:nvPr>
        </p:nvSpPr>
        <p:spPr/>
        <p:txBody>
          <a:bodyPr/>
          <a:lstStyle/>
          <a:p>
            <a:r>
              <a:rPr lang="en-US"/>
              <a:t>We predict the face base on a region, call ROI. In this case, it is a face</a:t>
            </a:r>
          </a:p>
          <a:p>
            <a:r>
              <a:rPr lang="en-US"/>
              <a:t>Then,  get ID and show the information has the same ID</a:t>
            </a:r>
          </a:p>
          <a:p>
            <a:endParaRPr lang="en-US"/>
          </a:p>
          <a:p>
            <a:pPr marL="0" indent="0">
              <a:buNone/>
            </a:pPr>
            <a:endParaRPr lang="vi-VN"/>
          </a:p>
        </p:txBody>
      </p:sp>
      <p:pic>
        <p:nvPicPr>
          <p:cNvPr id="4" name="Hình ảnh 3">
            <a:extLst>
              <a:ext uri="{FF2B5EF4-FFF2-40B4-BE49-F238E27FC236}">
                <a16:creationId xmlns:a16="http://schemas.microsoft.com/office/drawing/2014/main" id="{98B8AE22-34B8-43B3-B142-B853333C5391}"/>
              </a:ext>
            </a:extLst>
          </p:cNvPr>
          <p:cNvPicPr>
            <a:picLocks noChangeAspect="1"/>
          </p:cNvPicPr>
          <p:nvPr/>
        </p:nvPicPr>
        <p:blipFill>
          <a:blip r:embed="rId2"/>
          <a:stretch>
            <a:fillRect/>
          </a:stretch>
        </p:blipFill>
        <p:spPr>
          <a:xfrm>
            <a:off x="1247775" y="3786289"/>
            <a:ext cx="9696450" cy="1581150"/>
          </a:xfrm>
          <a:prstGeom prst="rect">
            <a:avLst/>
          </a:prstGeom>
        </p:spPr>
      </p:pic>
    </p:spTree>
    <p:extLst>
      <p:ext uri="{BB962C8B-B14F-4D97-AF65-F5344CB8AC3E}">
        <p14:creationId xmlns:p14="http://schemas.microsoft.com/office/powerpoint/2010/main" val="376388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01AACA2-D819-42EA-8873-D6F45848AA70}"/>
              </a:ext>
            </a:extLst>
          </p:cNvPr>
          <p:cNvSpPr>
            <a:spLocks noGrp="1"/>
          </p:cNvSpPr>
          <p:nvPr>
            <p:ph type="title"/>
          </p:nvPr>
        </p:nvSpPr>
        <p:spPr/>
        <p:txBody>
          <a:bodyPr/>
          <a:lstStyle/>
          <a:p>
            <a:pPr algn="ctr"/>
            <a:r>
              <a:rPr lang="en-US"/>
              <a:t>Listen and recoginize speech  </a:t>
            </a:r>
            <a:endParaRPr lang="vi-VN"/>
          </a:p>
        </p:txBody>
      </p:sp>
      <p:sp>
        <p:nvSpPr>
          <p:cNvPr id="3" name="Chỗ dành sẵn cho Nội dung 2">
            <a:extLst>
              <a:ext uri="{FF2B5EF4-FFF2-40B4-BE49-F238E27FC236}">
                <a16:creationId xmlns:a16="http://schemas.microsoft.com/office/drawing/2014/main" id="{CE4B1C5E-8778-4A23-B6D4-587059825BD7}"/>
              </a:ext>
            </a:extLst>
          </p:cNvPr>
          <p:cNvSpPr>
            <a:spLocks noGrp="1"/>
          </p:cNvSpPr>
          <p:nvPr>
            <p:ph idx="1"/>
          </p:nvPr>
        </p:nvSpPr>
        <p:spPr/>
        <p:txBody>
          <a:bodyPr>
            <a:normAutofit/>
          </a:bodyPr>
          <a:lstStyle/>
          <a:p>
            <a:r>
              <a:rPr lang="en-US"/>
              <a:t>Using speech_recognition libarary in python</a:t>
            </a:r>
          </a:p>
          <a:p>
            <a:endParaRPr lang="en-US"/>
          </a:p>
          <a:p>
            <a:endParaRPr lang="en-US"/>
          </a:p>
          <a:p>
            <a:endParaRPr lang="en-US"/>
          </a:p>
          <a:p>
            <a:pPr marL="0" indent="0">
              <a:buNone/>
            </a:pPr>
            <a:r>
              <a:rPr lang="en-US"/>
              <a:t>And now…</a:t>
            </a:r>
          </a:p>
          <a:p>
            <a:r>
              <a:rPr lang="en-US"/>
              <a:t> Listen speech and transfer to text</a:t>
            </a:r>
          </a:p>
          <a:p>
            <a:r>
              <a:rPr lang="en-US"/>
              <a:t>Then, we easily process text!</a:t>
            </a:r>
          </a:p>
          <a:p>
            <a:endParaRPr lang="en-US"/>
          </a:p>
          <a:p>
            <a:endParaRPr lang="vi-VN"/>
          </a:p>
        </p:txBody>
      </p:sp>
      <p:pic>
        <p:nvPicPr>
          <p:cNvPr id="4" name="Hình ảnh 3">
            <a:extLst>
              <a:ext uri="{FF2B5EF4-FFF2-40B4-BE49-F238E27FC236}">
                <a16:creationId xmlns:a16="http://schemas.microsoft.com/office/drawing/2014/main" id="{C5C95F18-7A3B-4CAE-AB81-5E2D8C44D29E}"/>
              </a:ext>
            </a:extLst>
          </p:cNvPr>
          <p:cNvPicPr>
            <a:picLocks noChangeAspect="1"/>
          </p:cNvPicPr>
          <p:nvPr/>
        </p:nvPicPr>
        <p:blipFill>
          <a:blip r:embed="rId2"/>
          <a:stretch>
            <a:fillRect/>
          </a:stretch>
        </p:blipFill>
        <p:spPr>
          <a:xfrm>
            <a:off x="914399" y="2491620"/>
            <a:ext cx="9426857" cy="937380"/>
          </a:xfrm>
          <a:prstGeom prst="rect">
            <a:avLst/>
          </a:prstGeom>
        </p:spPr>
      </p:pic>
      <p:pic>
        <p:nvPicPr>
          <p:cNvPr id="5" name="Hình ảnh 4">
            <a:extLst>
              <a:ext uri="{FF2B5EF4-FFF2-40B4-BE49-F238E27FC236}">
                <a16:creationId xmlns:a16="http://schemas.microsoft.com/office/drawing/2014/main" id="{0B52DC92-C8E7-4B25-AD7A-CAB53F3602DA}"/>
              </a:ext>
            </a:extLst>
          </p:cNvPr>
          <p:cNvPicPr>
            <a:picLocks noChangeAspect="1"/>
          </p:cNvPicPr>
          <p:nvPr/>
        </p:nvPicPr>
        <p:blipFill>
          <a:blip r:embed="rId3"/>
          <a:stretch>
            <a:fillRect/>
          </a:stretch>
        </p:blipFill>
        <p:spPr>
          <a:xfrm>
            <a:off x="461394" y="5553862"/>
            <a:ext cx="10402349" cy="758038"/>
          </a:xfrm>
          <a:prstGeom prst="rect">
            <a:avLst/>
          </a:prstGeom>
        </p:spPr>
      </p:pic>
    </p:spTree>
    <p:extLst>
      <p:ext uri="{BB962C8B-B14F-4D97-AF65-F5344CB8AC3E}">
        <p14:creationId xmlns:p14="http://schemas.microsoft.com/office/powerpoint/2010/main" val="264940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5342F79-04D4-44F5-8B96-33EE85662773}"/>
              </a:ext>
            </a:extLst>
          </p:cNvPr>
          <p:cNvSpPr>
            <a:spLocks noGrp="1"/>
          </p:cNvSpPr>
          <p:nvPr>
            <p:ph type="title"/>
          </p:nvPr>
        </p:nvSpPr>
        <p:spPr/>
        <p:txBody>
          <a:bodyPr/>
          <a:lstStyle/>
          <a:p>
            <a:r>
              <a:rPr lang="en-US"/>
              <a:t>Search web using web driver</a:t>
            </a:r>
            <a:endParaRPr lang="vi-VN"/>
          </a:p>
        </p:txBody>
      </p:sp>
      <p:sp>
        <p:nvSpPr>
          <p:cNvPr id="3" name="Chỗ dành sẵn cho Nội dung 2">
            <a:extLst>
              <a:ext uri="{FF2B5EF4-FFF2-40B4-BE49-F238E27FC236}">
                <a16:creationId xmlns:a16="http://schemas.microsoft.com/office/drawing/2014/main" id="{E91ECD2C-C292-49A2-9652-0552990C6B52}"/>
              </a:ext>
            </a:extLst>
          </p:cNvPr>
          <p:cNvSpPr>
            <a:spLocks noGrp="1"/>
          </p:cNvSpPr>
          <p:nvPr>
            <p:ph idx="1"/>
          </p:nvPr>
        </p:nvSpPr>
        <p:spPr/>
        <p:txBody>
          <a:bodyPr/>
          <a:lstStyle/>
          <a:p>
            <a:r>
              <a:rPr lang="en-US"/>
              <a:t>We use webdriver from selenium in oerder to do this duty</a:t>
            </a:r>
          </a:p>
          <a:p>
            <a:endParaRPr lang="en-US"/>
          </a:p>
          <a:p>
            <a:endParaRPr lang="en-US"/>
          </a:p>
          <a:p>
            <a:endParaRPr lang="en-US"/>
          </a:p>
          <a:p>
            <a:r>
              <a:rPr lang="en-US"/>
              <a:t>Then, we can excute some tasks, example:</a:t>
            </a:r>
          </a:p>
          <a:p>
            <a:endParaRPr lang="en-US"/>
          </a:p>
        </p:txBody>
      </p:sp>
      <p:pic>
        <p:nvPicPr>
          <p:cNvPr id="6" name="Hình ảnh 5">
            <a:extLst>
              <a:ext uri="{FF2B5EF4-FFF2-40B4-BE49-F238E27FC236}">
                <a16:creationId xmlns:a16="http://schemas.microsoft.com/office/drawing/2014/main" id="{3F172041-A551-4128-93C6-B0CEC5590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631" y="2760166"/>
            <a:ext cx="9986058" cy="1086002"/>
          </a:xfrm>
          <a:prstGeom prst="rect">
            <a:avLst/>
          </a:prstGeom>
        </p:spPr>
      </p:pic>
      <p:pic>
        <p:nvPicPr>
          <p:cNvPr id="7" name="Hình ảnh 6">
            <a:extLst>
              <a:ext uri="{FF2B5EF4-FFF2-40B4-BE49-F238E27FC236}">
                <a16:creationId xmlns:a16="http://schemas.microsoft.com/office/drawing/2014/main" id="{20671229-56E5-4E97-AB6E-0F117A40A8A2}"/>
              </a:ext>
            </a:extLst>
          </p:cNvPr>
          <p:cNvPicPr>
            <a:picLocks noChangeAspect="1"/>
          </p:cNvPicPr>
          <p:nvPr/>
        </p:nvPicPr>
        <p:blipFill>
          <a:blip r:embed="rId3"/>
          <a:stretch>
            <a:fillRect/>
          </a:stretch>
        </p:blipFill>
        <p:spPr>
          <a:xfrm>
            <a:off x="919631" y="4646485"/>
            <a:ext cx="10103503" cy="1323975"/>
          </a:xfrm>
          <a:prstGeom prst="rect">
            <a:avLst/>
          </a:prstGeom>
        </p:spPr>
      </p:pic>
    </p:spTree>
    <p:extLst>
      <p:ext uri="{BB962C8B-B14F-4D97-AF65-F5344CB8AC3E}">
        <p14:creationId xmlns:p14="http://schemas.microsoft.com/office/powerpoint/2010/main" val="274802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DEC6F67-F7B2-44F8-87BF-6C38125C9B97}"/>
              </a:ext>
            </a:extLst>
          </p:cNvPr>
          <p:cNvSpPr>
            <a:spLocks noGrp="1"/>
          </p:cNvSpPr>
          <p:nvPr>
            <p:ph type="title"/>
          </p:nvPr>
        </p:nvSpPr>
        <p:spPr/>
        <p:txBody>
          <a:bodyPr/>
          <a:lstStyle/>
          <a:p>
            <a:pPr algn="ctr"/>
            <a:r>
              <a:rPr lang="en-US"/>
              <a:t>The end</a:t>
            </a:r>
            <a:endParaRPr lang="vi-VN"/>
          </a:p>
        </p:txBody>
      </p:sp>
      <p:sp>
        <p:nvSpPr>
          <p:cNvPr id="3" name="Chỗ dành sẵn cho Nội dung 2">
            <a:extLst>
              <a:ext uri="{FF2B5EF4-FFF2-40B4-BE49-F238E27FC236}">
                <a16:creationId xmlns:a16="http://schemas.microsoft.com/office/drawing/2014/main" id="{F3E61816-2C93-45CD-9DE2-CA6F7783DD56}"/>
              </a:ext>
            </a:extLst>
          </p:cNvPr>
          <p:cNvSpPr>
            <a:spLocks noGrp="1"/>
          </p:cNvSpPr>
          <p:nvPr>
            <p:ph idx="1"/>
          </p:nvPr>
        </p:nvSpPr>
        <p:spPr/>
        <p:txBody>
          <a:bodyPr>
            <a:normAutofit/>
          </a:bodyPr>
          <a:lstStyle/>
          <a:p>
            <a:pPr algn="ctr"/>
            <a:r>
              <a:rPr lang="en-US" sz="2800"/>
              <a:t>Thanks for your watching!</a:t>
            </a:r>
            <a:endParaRPr lang="vi-VN" sz="2800"/>
          </a:p>
        </p:txBody>
      </p:sp>
    </p:spTree>
    <p:extLst>
      <p:ext uri="{BB962C8B-B14F-4D97-AF65-F5344CB8AC3E}">
        <p14:creationId xmlns:p14="http://schemas.microsoft.com/office/powerpoint/2010/main" val="4098961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duotone>
              <a:schemeClr val="bg2">
                <a:shade val="69000"/>
                <a:hueMod val="108000"/>
                <a:satMod val="164000"/>
                <a:lumMod val="74000"/>
              </a:schemeClr>
              <a:schemeClr val="bg2">
                <a:tint val="96000"/>
                <a:hueMod val="88000"/>
                <a:satMod val="140000"/>
                <a:lumMod val="132000"/>
              </a:schemeClr>
            </a:duotone>
            <a:lum/>
          </a:blip>
          <a:srcRect/>
          <a:stretch>
            <a:fillRect/>
          </a:stretch>
        </a:blipFill>
        <a:effectLst/>
      </p:bgPr>
    </p:bg>
    <p:spTree>
      <p:nvGrpSpPr>
        <p:cNvPr id="1" name=""/>
        <p:cNvGrpSpPr/>
        <p:nvPr/>
      </p:nvGrpSpPr>
      <p:grpSpPr>
        <a:xfrm>
          <a:off x="0" y="0"/>
          <a:ext cx="0" cy="0"/>
          <a:chOff x="0" y="0"/>
          <a:chExt cx="0" cy="0"/>
        </a:xfrm>
      </p:grpSpPr>
      <p:pic>
        <p:nvPicPr>
          <p:cNvPr id="3" name="Hình ảnh 2">
            <a:extLst>
              <a:ext uri="{FF2B5EF4-FFF2-40B4-BE49-F238E27FC236}">
                <a16:creationId xmlns:a16="http://schemas.microsoft.com/office/drawing/2014/main" id="{0F2CCE23-FF3A-4FA8-895F-83FFACBE44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698" y="242243"/>
            <a:ext cx="9580227" cy="6373513"/>
          </a:xfrm>
          <a:prstGeom prst="rect">
            <a:avLst/>
          </a:prstGeom>
        </p:spPr>
      </p:pic>
    </p:spTree>
    <p:extLst>
      <p:ext uri="{BB962C8B-B14F-4D97-AF65-F5344CB8AC3E}">
        <p14:creationId xmlns:p14="http://schemas.microsoft.com/office/powerpoint/2010/main" val="3902288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81</TotalTime>
  <Words>322</Words>
  <Application>Microsoft Office PowerPoint</Application>
  <PresentationFormat>Màn hình rộng</PresentationFormat>
  <Paragraphs>42</Paragraphs>
  <Slides>10</Slides>
  <Notes>0</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10</vt:i4>
      </vt:variant>
    </vt:vector>
  </HeadingPairs>
  <TitlesOfParts>
    <vt:vector size="15" baseType="lpstr">
      <vt:lpstr>Arial</vt:lpstr>
      <vt:lpstr>Century Gothic</vt:lpstr>
      <vt:lpstr>Times New Roman</vt:lpstr>
      <vt:lpstr>Wingdings 3</vt:lpstr>
      <vt:lpstr>Ion</vt:lpstr>
      <vt:lpstr>Bản trình bày PowerPoint</vt:lpstr>
      <vt:lpstr>Creat train dataset, set label for them &amp; train model</vt:lpstr>
      <vt:lpstr>Connect user database</vt:lpstr>
      <vt:lpstr>Mô hình xử lí hình ảnh nhận diện khuôn mặt</vt:lpstr>
      <vt:lpstr>Example about use Harr future to detect face and eyes</vt:lpstr>
      <vt:lpstr>Get ID , search in database &amp; show information</vt:lpstr>
      <vt:lpstr>Listen and recoginize speech  </vt:lpstr>
      <vt:lpstr>Search web using web driver</vt:lpstr>
      <vt:lpstr>The end</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 trình bày PowerPoint</dc:title>
  <dc:creator>dell</dc:creator>
  <cp:lastModifiedBy>dell</cp:lastModifiedBy>
  <cp:revision>10</cp:revision>
  <dcterms:created xsi:type="dcterms:W3CDTF">2020-01-16T05:20:23Z</dcterms:created>
  <dcterms:modified xsi:type="dcterms:W3CDTF">2020-01-16T15:08:34Z</dcterms:modified>
</cp:coreProperties>
</file>